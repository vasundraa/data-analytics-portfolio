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2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9791"/>
                </a:solidFill>
                <a:latin typeface="Aptos"/>
              </a:defRPr>
            </a:pPr>
            <a:r>
              <a:t>NOVITECH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Business Insights</a:t>
            </a:r>
            <a:br/>
            <a:r>
              <a:t>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46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AE7"/>
                </a:solidFill>
                <a:latin typeface="Aptos"/>
              </a:defRPr>
            </a:pPr>
            <a:r>
              <a:t>Production  •  Quality  •  Efficiency  • 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76732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BDAE7"/>
                </a:solidFill>
                <a:latin typeface="Aptos"/>
              </a:defRPr>
            </a:pPr>
            <a:r>
              <a:t>Supply Chain  •  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8006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 concise management view of performance, exposure and areas requiring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916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B4C8D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9791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E6C7B"/>
                </a:solidFill>
                <a:latin typeface="Aptos"/>
              </a:defRPr>
            </a:pPr>
            <a:r>
              <a:t>Why management needs one connected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54864" cy="3429000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7"/>
            <a:ext cx="3044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Many business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1"/>
            <a:ext cx="304495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Production, plants, products, quality, downtime, energy, purchasing, suppliers, materials, operators and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74519"/>
            <a:ext cx="54864" cy="3429000"/>
          </a:xfrm>
          <a:prstGeom prst="rect">
            <a:avLst/>
          </a:prstGeom>
          <a:solidFill>
            <a:srgbClr val="2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029967"/>
            <a:ext cx="3044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404871"/>
            <a:ext cx="304495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Looking at these areas separately makes it harder to see where efficiency is being lost or where exposure is concentrated.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74519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874519"/>
            <a:ext cx="54864" cy="3429000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29967"/>
            <a:ext cx="3044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The management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04871"/>
            <a:ext cx="304495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A consolidated view that helps identify where to look, what to investigate and where attention may be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623560"/>
            <a:ext cx="9738360" cy="475488"/>
          </a:xfrm>
          <a:prstGeom prst="roundRect">
            <a:avLst/>
          </a:prstGeom>
          <a:solidFill>
            <a:srgbClr val="E8F0F6"/>
          </a:solidFill>
          <a:ln>
            <a:solidFill>
              <a:srgbClr val="21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715000"/>
            <a:ext cx="9372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233A"/>
                </a:solidFill>
                <a:latin typeface="Aptos"/>
              </a:defRPr>
            </a:pPr>
            <a:r>
              <a:t>Core question: Where is Novitech losing operational efficiency or carrying financial / supply-chain exposure?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E6C7B"/>
                </a:solidFill>
                <a:latin typeface="Aptos"/>
              </a:defRPr>
            </a:pPr>
            <a:r>
              <a:t>NOVITECH MANUFACTURING  •  BUSINESS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E6C7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9791"/>
                </a:solidFill>
                <a:latin typeface="Aptos"/>
              </a:defRPr>
            </a:pPr>
            <a:r>
              <a:t>02 •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What the dashboard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E6C7B"/>
                </a:solidFill>
                <a:latin typeface="Aptos"/>
              </a:defRPr>
            </a:pPr>
            <a:r>
              <a:t>Signals to take into management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47088"/>
            <a:ext cx="54864" cy="1481328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025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Output is concentrated across specific plants, products and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8470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847088"/>
            <a:ext cx="54864" cy="1481328"/>
          </a:xfrm>
          <a:prstGeom prst="rect">
            <a:avLst/>
          </a:prstGeom>
          <a:solidFill>
            <a:srgbClr val="BC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025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Defective production is concentrated in particular areas and deserves closer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847088"/>
            <a:ext cx="54864" cy="1481328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025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Downtime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Higher downtime appears in specific plants and operators.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8470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847088"/>
            <a:ext cx="54864" cy="1481328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0025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Energy usage varies across products and shifts.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758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675888"/>
            <a:ext cx="54864" cy="1481328"/>
          </a:xfrm>
          <a:prstGeom prst="rect">
            <a:avLst/>
          </a:prstGeom>
          <a:solidFill>
            <a:srgbClr val="BC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313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Cost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Some categories show higher estimated defect-cost exposure.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36758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8" y="3675888"/>
            <a:ext cx="54864" cy="1481328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8313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Procurement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062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Purchasing spend is concentrated among certain suppliers.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6758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3675888"/>
            <a:ext cx="54864" cy="1481328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8313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Supplier 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062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Lead-time and delay differences matter alongside purchasing spend.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3675888"/>
            <a:ext cx="2542032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25128" y="3675888"/>
            <a:ext cx="54864" cy="1481328"/>
          </a:xfrm>
          <a:prstGeom prst="rect">
            <a:avLst/>
          </a:prstGeom>
          <a:solidFill>
            <a:srgbClr val="2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831336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Material dependency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206240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Several materials are shared across multiple products.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715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E6C7B"/>
                </a:solidFill>
                <a:latin typeface="Aptos"/>
              </a:defRPr>
            </a:pPr>
            <a:r>
              <a:t>These are management signals for further investigation — not proof of a specific cause.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E6C7B"/>
                </a:solidFill>
                <a:latin typeface="Aptos"/>
              </a:defRPr>
            </a:pPr>
            <a:r>
              <a:t>NOVITECH MANUFACTURING  •  BUSINESS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E6C7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9791"/>
                </a:solidFill>
                <a:latin typeface="Aptos"/>
              </a:defRPr>
            </a:pPr>
            <a:r>
              <a:t>03 •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Key Dashboard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E6C7B"/>
                </a:solidFill>
                <a:latin typeface="Aptos"/>
              </a:defRPr>
            </a:pPr>
            <a:r>
              <a:t>Verified figures from the completed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4864" cy="1115568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Total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67712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1,029,692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54864" cy="1115568"/>
          </a:xfrm>
          <a:prstGeom prst="rect">
            <a:avLst/>
          </a:prstGeom>
          <a:solidFill>
            <a:srgbClr val="BC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47672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Total Defects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267712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17,649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3080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783080"/>
            <a:ext cx="54864" cy="1115568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47672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Total Downtime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67712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1,436 hrs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783080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783080"/>
            <a:ext cx="54864" cy="1115568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947672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Total 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267712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3,205,562 kWh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136392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136392"/>
            <a:ext cx="54864" cy="1115568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00984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Total Operators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3136392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8" y="3136392"/>
            <a:ext cx="54864" cy="1115568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300984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Purchase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3621024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1,600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136392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3136392"/>
            <a:ext cx="54864" cy="1115568"/>
          </a:xfrm>
          <a:prstGeom prst="rect">
            <a:avLst/>
          </a:prstGeom>
          <a:solidFill>
            <a:srgbClr val="BC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300984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Delayed Orders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621024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171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3136392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25128" y="3136392"/>
            <a:ext cx="54864" cy="1115568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3300984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Delay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3621024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10.69%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489704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489704"/>
            <a:ext cx="54864" cy="1115568"/>
          </a:xfrm>
          <a:prstGeom prst="rect">
            <a:avLst/>
          </a:prstGeom>
          <a:solidFill>
            <a:srgbClr val="2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65429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Raw Materials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974336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7288" y="4489704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47288" y="4489704"/>
            <a:ext cx="54864" cy="1115568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0168" y="465429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Products with Material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4974336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4489704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36208" y="4489704"/>
            <a:ext cx="54864" cy="1115568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465429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Material Dependencies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974336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41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25128" y="4489704"/>
            <a:ext cx="254203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5128" y="4489704"/>
            <a:ext cx="54864" cy="1115568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08008" y="4654296"/>
            <a:ext cx="2221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E6C7B"/>
                </a:solidFill>
                <a:latin typeface="Aptos"/>
              </a:defRPr>
            </a:pPr>
            <a:r>
              <a:t>Avg. Material Standard Cost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8008" y="4974336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233A"/>
                </a:solidFill>
                <a:latin typeface="Aptos Display"/>
              </a:defRPr>
            </a:pPr>
            <a:r>
              <a:t>₹20.26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E6C7B"/>
                </a:solidFill>
                <a:latin typeface="Aptos"/>
              </a:defRPr>
            </a:pPr>
            <a:r>
              <a:t>NOVITECH MANUFACTURING  •  BUSINESS INSIGHTS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E6C7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9791"/>
                </a:solidFill>
                <a:latin typeface="Aptos"/>
              </a:defRPr>
            </a:pPr>
            <a:r>
              <a:t>04 •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E6C7B"/>
                </a:solidFill>
                <a:latin typeface="Aptos"/>
              </a:defRPr>
            </a:pPr>
            <a:r>
              <a:t>Practical actions connected to the dashboard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4864" cy="987552"/>
          </a:xfrm>
          <a:prstGeom prst="rect">
            <a:avLst/>
          </a:prstGeom>
          <a:solidFill>
            <a:srgbClr val="BC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01  Strengthen quality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Focus quality reviews on products, plants and operators with higher defective-unit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830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783080"/>
            <a:ext cx="54864" cy="987552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02  Investigate 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1343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Review the operational reasons behind higher downtime at identified plants and operators.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1752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017520"/>
            <a:ext cx="54864" cy="987552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7296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03  Monitor energy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4787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Compare energy consumption and energy per unit across products and shifts.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01752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017520"/>
            <a:ext cx="54864" cy="987552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7296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04  Review supplier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4787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Monitor higher delay rates or longer lead times, especially where spend is significant.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5196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51960"/>
            <a:ext cx="54864" cy="987552"/>
          </a:xfrm>
          <a:prstGeom prst="rect">
            <a:avLst/>
          </a:prstGeom>
          <a:solidFill>
            <a:srgbClr val="2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0740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05  Protect shared 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8231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Give closer availability and purchasing attention to materials used across multiple products.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425196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4251960"/>
            <a:ext cx="54864" cy="987552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40740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06  Connect output with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8231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Review production together with defects, downtime and energy — not production alone.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8640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486400"/>
            <a:ext cx="54864" cy="987552"/>
          </a:xfrm>
          <a:prstGeom prst="rect">
            <a:avLst/>
          </a:prstGeom>
          <a:solidFill>
            <a:srgbClr val="D2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4873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07  Review regularly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016752"/>
            <a:ext cx="4873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Use the dashboard in recurring management reviews and follow up on changes.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E6C7B"/>
                </a:solidFill>
                <a:latin typeface="Aptos"/>
              </a:defRPr>
            </a:pPr>
            <a:r>
              <a:t>NOVITECH MANUFACTURING  •  BUSINESS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E6C7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9791"/>
                </a:solidFill>
                <a:latin typeface="Aptos"/>
              </a:defRPr>
            </a:pPr>
            <a:r>
              <a:t>05 • FINANCIAL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Important Financial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E6C7B"/>
                </a:solidFill>
                <a:latin typeface="Aptos"/>
              </a:defRPr>
            </a:pPr>
            <a:r>
              <a:t>What the available information can and cannot tell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61320" cy="731520"/>
          </a:xfrm>
          <a:prstGeom prst="roundRect">
            <a:avLst/>
          </a:prstGeom>
          <a:solidFill>
            <a:srgbClr val="E8F0F6"/>
          </a:solidFill>
          <a:ln>
            <a:solidFill>
              <a:srgbClr val="D2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233A"/>
                </a:solidFill>
                <a:latin typeface="Aptos"/>
              </a:defRPr>
            </a:pPr>
            <a:r>
              <a:t>The available information does not contain actual sales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5074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54864" cy="2423160"/>
          </a:xfrm>
          <a:prstGeom prst="rect">
            <a:avLst/>
          </a:prstGeom>
          <a:solidFill>
            <a:srgbClr val="2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035808"/>
            <a:ext cx="4690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What we do not 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410712"/>
            <a:ext cx="46908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Actual revenue</a:t>
            </a:r>
            <a:br/>
            <a:r>
              <a:t>Actual profit</a:t>
            </a:r>
            <a:br/>
            <a:r>
              <a:t>Formal accounting cost of goods sold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074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880360"/>
            <a:ext cx="54864" cy="2423160"/>
          </a:xfrm>
          <a:prstGeom prst="rect">
            <a:avLst/>
          </a:prstGeom>
          <a:solidFill>
            <a:srgbClr val="BC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035808"/>
            <a:ext cx="4690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233A"/>
                </a:solidFill>
                <a:latin typeface="Aptos"/>
              </a:defRPr>
            </a:pPr>
            <a:r>
              <a:t>What the dashboard provides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410712"/>
            <a:ext cx="46908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5E6C7B"/>
                </a:solidFill>
                <a:latin typeface="Aptos"/>
              </a:defRPr>
            </a:pPr>
            <a:r>
              <a:t>Potential production value as planning context</a:t>
            </a:r>
            <a:br/>
            <a:r>
              <a:t>Potential unit margin — not actual profit</a:t>
            </a:r>
            <a:br/>
            <a:r>
              <a:t>Estimated defect cost exposure — not confirmed scrap/rework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E6C7B"/>
                </a:solidFill>
                <a:latin typeface="Aptos"/>
              </a:defRPr>
            </a:pPr>
            <a:r>
              <a:t>This keeps the dashboard aligned with the BRD's financial limitations.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E6C7B"/>
                </a:solidFill>
                <a:latin typeface="Aptos"/>
              </a:defRPr>
            </a:pPr>
            <a:r>
              <a:t>NOVITECH MANUFACTURING  •  BUSINESS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E6C7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CCC4"/>
                </a:solidFill>
                <a:latin typeface="Aptos"/>
              </a:defRPr>
            </a:pPr>
            <a:r>
              <a:t>06 •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From Data to Business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C3D3E0"/>
                </a:solidFill>
                <a:latin typeface="Aptos"/>
              </a:defRPr>
            </a:pPr>
            <a:r>
              <a:t>Use the dashboard as a management review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1938528" cy="1481328"/>
          </a:xfrm>
          <a:prstGeom prst="roundRect">
            <a:avLst/>
          </a:prstGeom>
          <a:solidFill>
            <a:srgbClr val="19344F"/>
          </a:solidFill>
          <a:ln>
            <a:solidFill>
              <a:srgbClr val="35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CCC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99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3D3E0"/>
                </a:solidFill>
                <a:latin typeface="Aptos"/>
              </a:defRPr>
            </a:pPr>
            <a:r>
              <a:t>What is happening?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057400"/>
            <a:ext cx="1938528" cy="1481328"/>
          </a:xfrm>
          <a:prstGeom prst="roundRect">
            <a:avLst/>
          </a:prstGeom>
          <a:solidFill>
            <a:srgbClr val="19344F"/>
          </a:solidFill>
          <a:ln>
            <a:solidFill>
              <a:srgbClr val="35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CC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99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3D3E0"/>
                </a:solidFill>
                <a:latin typeface="Aptos"/>
              </a:defRPr>
            </a:pPr>
            <a:r>
              <a:t>Where is it concentrated?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2057400"/>
            <a:ext cx="1938528" cy="1481328"/>
          </a:xfrm>
          <a:prstGeom prst="roundRect">
            <a:avLst/>
          </a:prstGeom>
          <a:solidFill>
            <a:srgbClr val="19344F"/>
          </a:solidFill>
          <a:ln>
            <a:solidFill>
              <a:srgbClr val="35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CC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999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3D3E0"/>
                </a:solidFill>
                <a:latin typeface="Aptos"/>
              </a:defRPr>
            </a:pPr>
            <a:r>
              <a:t>What needs a closer look?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344" y="2057400"/>
            <a:ext cx="1938528" cy="1481328"/>
          </a:xfrm>
          <a:prstGeom prst="roundRect">
            <a:avLst/>
          </a:prstGeom>
          <a:solidFill>
            <a:srgbClr val="19344F"/>
          </a:solidFill>
          <a:ln>
            <a:solidFill>
              <a:srgbClr val="35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CC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999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3D3E0"/>
                </a:solidFill>
                <a:latin typeface="Aptos"/>
              </a:defRPr>
            </a:pPr>
            <a:r>
              <a:t>What follow-up is required?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46336" y="2057400"/>
            <a:ext cx="1938528" cy="1481328"/>
          </a:xfrm>
          <a:prstGeom prst="roundRect">
            <a:avLst/>
          </a:prstGeom>
          <a:solidFill>
            <a:srgbClr val="19344F"/>
          </a:solidFill>
          <a:ln>
            <a:solidFill>
              <a:srgbClr val="35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6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CC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2999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3D3E0"/>
                </a:solidFill>
                <a:latin typeface="Aptos"/>
              </a:defRPr>
            </a:pPr>
            <a:r>
              <a:t>Did performance change?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434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The dashboard brings production, quality, efficiency, cost, procurement, supply-chain and workforce information into one business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30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3D3E0"/>
                </a:solidFill>
                <a:latin typeface="Aptos"/>
              </a:defRPr>
            </a:pPr>
            <a:r>
              <a:t>The goal is not simply to see numbers — it is to identify where management attention is required and support better business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A0B5C7"/>
                </a:solidFill>
                <a:latin typeface="Aptos"/>
              </a:defRPr>
            </a:pPr>
            <a:r>
              <a:t>NOVITECH MANUFACTURING  •  BUSINESS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B5C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